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3777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92240" y="-1463040"/>
            <a:ext cx="4206240" cy="4206240"/>
          </a:xfrm>
          <a:prstGeom prst="ellipse">
            <a:avLst/>
          </a:prstGeom>
          <a:solidFill>
            <a:srgbClr val="285F60"/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3657600"/>
            <a:ext cx="3108960" cy="3108960"/>
          </a:xfrm>
          <a:prstGeom prst="ellipse">
            <a:avLst/>
          </a:prstGeom>
          <a:solidFill>
            <a:srgbClr val="285F6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</a:t>
            </a:r>
            <a:pPr indent="0" marL="0">
              <a:buNone/>
            </a:pPr>
            <a:r>
              <a:rPr lang="en-US" sz="4400" b="1" dirty="0">
                <a:solidFill>
                  <a:srgbClr val="F3C0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Select</a:t>
            </a:r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Chat Agent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224028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8F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symptom to a verified, in-cart part — with measured accuracy.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2971800"/>
            <a:ext cx="1874520" cy="292608"/>
          </a:xfrm>
          <a:prstGeom prst="roundRect">
            <a:avLst>
              <a:gd name="adj" fmla="val 50000"/>
            </a:avLst>
          </a:prstGeom>
          <a:solidFill>
            <a:srgbClr val="285F60"/>
          </a:solidFill>
          <a:ln w="9525">
            <a:solidFill>
              <a:srgbClr val="285F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958084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40/40 eval cases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51760" y="2971800"/>
            <a:ext cx="2286000" cy="292608"/>
          </a:xfrm>
          <a:prstGeom prst="roundRect">
            <a:avLst>
              <a:gd name="adj" fmla="val 50000"/>
            </a:avLst>
          </a:prstGeom>
          <a:solidFill>
            <a:srgbClr val="285F60"/>
          </a:solidFill>
          <a:ln w="9525">
            <a:solidFill>
              <a:srgbClr val="285F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51760" y="295808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hallucinated part #s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74920" y="2971800"/>
            <a:ext cx="2103120" cy="292608"/>
          </a:xfrm>
          <a:prstGeom prst="roundRect">
            <a:avLst>
              <a:gd name="adj" fmla="val 50000"/>
            </a:avLst>
          </a:prstGeom>
          <a:solidFill>
            <a:srgbClr val="285F60"/>
          </a:solidFill>
          <a:ln w="9525">
            <a:solidFill>
              <a:srgbClr val="285F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74920" y="295808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scraped data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43434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FD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Instalily case study  ·  Tatsan  ·  github.com/ScooterStuff/case-study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121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Built around three user jobs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55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someone with a broken appliance actually want from a parts chat?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5212080" cy="566928"/>
          </a:xfrm>
          <a:prstGeom prst="rect">
            <a:avLst/>
          </a:prstGeom>
          <a:solidFill>
            <a:srgbClr val="F6F6F4"/>
          </a:solidFill>
          <a:ln w="9525">
            <a:solidFill>
              <a:srgbClr val="D7D7D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453896"/>
            <a:ext cx="310896" cy="310896"/>
          </a:xfrm>
          <a:prstGeom prst="ellipse">
            <a:avLst/>
          </a:prstGeom>
          <a:solidFill>
            <a:srgbClr val="337778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14356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1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“How can I install part number PS11752778?”</a:t>
            </a:r>
            <a:endParaRPr lang="en-US" sz="1150" dirty="0"/>
          </a:p>
          <a:p>
            <a:pPr indent="0" marL="0">
              <a:buNone/>
            </a:pPr>
            <a:r>
              <a:rPr lang="en-US" sz="1000" dirty="0">
                <a:solidFill>
                  <a:srgbClr val="555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 have the part — walk me through the install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2039112"/>
            <a:ext cx="5212080" cy="566928"/>
          </a:xfrm>
          <a:prstGeom prst="rect">
            <a:avLst/>
          </a:prstGeom>
          <a:solidFill>
            <a:srgbClr val="F6F6F4"/>
          </a:solidFill>
          <a:ln w="9525">
            <a:solidFill>
              <a:srgbClr val="D7D7D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2167128"/>
            <a:ext cx="310896" cy="310896"/>
          </a:xfrm>
          <a:prstGeom prst="ellipse">
            <a:avLst/>
          </a:prstGeom>
          <a:solidFill>
            <a:srgbClr val="337778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21488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15568" y="2084832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1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“Is this part compatible with my WDT780SAEM1 model?”</a:t>
            </a:r>
            <a:endParaRPr lang="en-US" sz="1150" dirty="0"/>
          </a:p>
          <a:p>
            <a:pPr indent="0" marL="0">
              <a:buNone/>
            </a:pPr>
            <a:r>
              <a:rPr lang="en-US" sz="1000" dirty="0">
                <a:solidFill>
                  <a:srgbClr val="555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will this fit MY machine? (the money question)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2752344"/>
            <a:ext cx="5212080" cy="566928"/>
          </a:xfrm>
          <a:prstGeom prst="rect">
            <a:avLst/>
          </a:prstGeom>
          <a:solidFill>
            <a:srgbClr val="F6F6F4"/>
          </a:solidFill>
          <a:ln w="9525">
            <a:solidFill>
              <a:srgbClr val="D7D7D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" y="2880360"/>
            <a:ext cx="310896" cy="310896"/>
          </a:xfrm>
          <a:prstGeom prst="ellipse">
            <a:avLst/>
          </a:prstGeom>
          <a:solidFill>
            <a:srgbClr val="337778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" y="28620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15568" y="2798064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1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ice maker on my Whirlpool fridge is not working…”</a:t>
            </a:r>
            <a:endParaRPr lang="en-US" sz="1150" dirty="0"/>
          </a:p>
          <a:p>
            <a:pPr indent="0" marL="0">
              <a:buNone/>
            </a:pPr>
            <a:r>
              <a:rPr lang="en-US" sz="1000" dirty="0">
                <a:solidFill>
                  <a:srgbClr val="555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something's broken — figure out what I need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989320" y="1325880"/>
            <a:ext cx="2697480" cy="2139696"/>
          </a:xfrm>
          <a:prstGeom prst="rect">
            <a:avLst/>
          </a:prstGeom>
          <a:solidFill>
            <a:srgbClr val="337778"/>
          </a:solidFill>
          <a:ln/>
          <a:effectLst>
            <a:outerShdw sx="100000" sy="100000" kx="0" ky="0" algn="bl" rotWithShape="0" blurRad="88900" dist="25400" dir="8100000">
              <a:srgbClr val="000000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217920" y="15544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C0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Jobs → flows → tests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217920" y="196596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job became a product flow in the chat — install help, fit checks, diagnosis — and an automated test that gates every change.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02920" y="3794760"/>
            <a:ext cx="8183880" cy="713232"/>
          </a:xfrm>
          <a:prstGeom prst="rect">
            <a:avLst/>
          </a:prstGeom>
          <a:solidFill>
            <a:srgbClr val="F6F6F4"/>
          </a:solidFill>
          <a:ln w="9525">
            <a:solidFill>
              <a:srgbClr val="D7D7D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38862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1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principle:  </a:t>
            </a:r>
            <a:pPr indent="0" marL="0">
              <a:buNone/>
            </a:pPr>
            <a:r>
              <a:rPr lang="en-US" sz="1250" dirty="0">
                <a:solidFill>
                  <a:srgbClr val="555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parts assistant is only useful if every answer can be trusted — wrong part numbers mean wrong orders and returns. So </a:t>
            </a:r>
            <a:pPr indent="0" marL="0">
              <a:buNone/>
            </a:pPr>
            <a:r>
              <a:rPr lang="en-US" sz="1250" b="1" dirty="0">
                <a:solidFill>
                  <a:srgbClr val="337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is a feature</a:t>
            </a:r>
            <a:pPr indent="0" marL="0">
              <a:buNone/>
            </a:pPr>
            <a:r>
              <a:rPr lang="en-US" sz="1250" dirty="0">
                <a:solidFill>
                  <a:srgbClr val="555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it's measured like one.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121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trust is the hard part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55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pulled the real PartSelect pages for those queries before designing anything. Look closely: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291840" cy="1965960"/>
          </a:xfrm>
          <a:prstGeom prst="rect">
            <a:avLst/>
          </a:prstGeom>
          <a:solidFill>
            <a:srgbClr val="F6F6F4"/>
          </a:solidFill>
          <a:ln w="12700">
            <a:solidFill>
              <a:srgbClr val="D7D7D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00200"/>
            <a:ext cx="457200" cy="457200"/>
          </a:xfrm>
          <a:prstGeom prst="ellipse">
            <a:avLst/>
          </a:prstGeom>
          <a:solidFill>
            <a:srgbClr val="33777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709928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6276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2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PS11752778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" y="224028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Refrigerator Door Shelf Bin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5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Whirlpool WPW10321304 · $47.40 · In Stock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349240" y="1371600"/>
            <a:ext cx="3291840" cy="1965960"/>
          </a:xfrm>
          <a:prstGeom prst="rect">
            <a:avLst/>
          </a:prstGeom>
          <a:solidFill>
            <a:srgbClr val="F6F6F4"/>
          </a:solidFill>
          <a:ln w="12700">
            <a:solidFill>
              <a:srgbClr val="D7D7D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577840" y="1600200"/>
            <a:ext cx="457200" cy="457200"/>
          </a:xfrm>
          <a:prstGeom prst="ellipse">
            <a:avLst/>
          </a:prstGeom>
          <a:solidFill>
            <a:srgbClr val="33777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7568" y="1709928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172200" y="16276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2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WDT780SAEM1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5577840" y="224028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Whirlpool DISHWASHER model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5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(12 verified parts in the scraped cross-reference)</a:t>
            </a:r>
            <a:endParaRPr lang="en-US" sz="11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4528" y="1874520"/>
            <a:ext cx="685800" cy="6858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950208" y="2606040"/>
            <a:ext cx="1243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3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43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fit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502920" y="3657600"/>
            <a:ext cx="8183880" cy="960120"/>
          </a:xfrm>
          <a:prstGeom prst="rect">
            <a:avLst/>
          </a:prstGeom>
          <a:solidFill>
            <a:srgbClr val="121212"/>
          </a:solidFill>
          <a:ln/>
        </p:spPr>
      </p:sp>
      <p:sp>
        <p:nvSpPr>
          <p:cNvPr id="17" name="Text 12"/>
          <p:cNvSpPr/>
          <p:nvPr/>
        </p:nvSpPr>
        <p:spPr>
          <a:xfrm>
            <a:off x="777240" y="3776472"/>
            <a:ext cx="7635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3C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customers mix up parts and models constantly — example query 2 does it too.</a:t>
            </a:r>
            <a:endParaRPr lang="en-US" sz="135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chatbot that confidently says “yes, it fits!” here causes a wrong order, a return, and lost trust. So in this product, compatibility comes from a database JOIN over scraped fitment data — the LLM never gets to guess.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121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Architecture: one agent, hard rails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55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tool-calling LLM — extensibility lives in the tool registry, not in agent count.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11480" y="1417320"/>
            <a:ext cx="1371600" cy="1554480"/>
          </a:xfrm>
          <a:prstGeom prst="rect">
            <a:avLst/>
          </a:prstGeom>
          <a:solidFill>
            <a:srgbClr val="F6F6F4"/>
          </a:solidFill>
          <a:ln w="12700">
            <a:solidFill>
              <a:srgbClr val="D7D7D7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86968" y="1600200"/>
            <a:ext cx="420624" cy="420624"/>
          </a:xfrm>
          <a:prstGeom prst="ellipse">
            <a:avLst/>
          </a:prstGeom>
          <a:solidFill>
            <a:srgbClr val="33777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918" y="1701150"/>
            <a:ext cx="218724" cy="2187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21031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121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Scope Guard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57200" y="239572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fast-path,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55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tiny classifier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764792" y="1993392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7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2148840" y="1417320"/>
            <a:ext cx="1600200" cy="1554480"/>
          </a:xfrm>
          <a:prstGeom prst="rect">
            <a:avLst/>
          </a:prstGeom>
          <a:solidFill>
            <a:srgbClr val="337778"/>
          </a:solidFill>
          <a:ln w="12700">
            <a:solidFill>
              <a:srgbClr val="337778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738628" y="1600200"/>
            <a:ext cx="420624" cy="420624"/>
          </a:xfrm>
          <a:prstGeom prst="ellipse">
            <a:avLst/>
          </a:prstGeom>
          <a:solidFill>
            <a:srgbClr val="285F6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9578" y="1701150"/>
            <a:ext cx="218724" cy="21872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194560" y="210312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Loop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2194560" y="2395728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E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LLM · 6 tools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CE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4 rounds · SSE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3730752" y="1993392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7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2"/>
          <p:cNvSpPr/>
          <p:nvPr/>
        </p:nvSpPr>
        <p:spPr>
          <a:xfrm>
            <a:off x="4114800" y="1417320"/>
            <a:ext cx="1783080" cy="1554480"/>
          </a:xfrm>
          <a:prstGeom prst="rect">
            <a:avLst/>
          </a:prstGeom>
          <a:solidFill>
            <a:srgbClr val="F6F6F4"/>
          </a:solidFill>
          <a:ln w="12700">
            <a:solidFill>
              <a:srgbClr val="D7D7D7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4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796028" y="1600200"/>
            <a:ext cx="420624" cy="420624"/>
          </a:xfrm>
          <a:prstGeom prst="ellipse">
            <a:avLst/>
          </a:prstGeom>
          <a:solidFill>
            <a:srgbClr val="337778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6978" y="1701150"/>
            <a:ext cx="218724" cy="21872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160520" y="21031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121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 Registry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4160520" y="2395728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· details · compat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55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 · install · orders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5879592" y="1993392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7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17"/>
          <p:cNvSpPr/>
          <p:nvPr/>
        </p:nvSpPr>
        <p:spPr>
          <a:xfrm>
            <a:off x="6263640" y="1417320"/>
            <a:ext cx="2468880" cy="1554480"/>
          </a:xfrm>
          <a:prstGeom prst="rect">
            <a:avLst/>
          </a:prstGeom>
          <a:solidFill>
            <a:srgbClr val="337778"/>
          </a:solidFill>
          <a:ln w="12700">
            <a:solidFill>
              <a:srgbClr val="337778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4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287768" y="1600200"/>
            <a:ext cx="420624" cy="420624"/>
          </a:xfrm>
          <a:prstGeom prst="ellipse">
            <a:avLst/>
          </a:prstGeom>
          <a:solidFill>
            <a:srgbClr val="285F60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8718" y="1701150"/>
            <a:ext cx="218724" cy="21872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309360" y="21031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Postgres + pgvector</a:t>
            </a:r>
            <a:endParaRPr lang="en-US" sz="1250" dirty="0"/>
          </a:p>
        </p:txBody>
      </p:sp>
      <p:sp>
        <p:nvSpPr>
          <p:cNvPr id="26" name="Text 20"/>
          <p:cNvSpPr/>
          <p:nvPr/>
        </p:nvSpPr>
        <p:spPr>
          <a:xfrm>
            <a:off x="6309360" y="239572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E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facts via SQL · fuzz via RAG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CE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database, one JOIN away</a:t>
            </a:r>
            <a:endParaRPr lang="en-US" sz="900" dirty="0"/>
          </a:p>
        </p:txBody>
      </p:sp>
      <p:sp>
        <p:nvSpPr>
          <p:cNvPr id="27" name="Shape 21"/>
          <p:cNvSpPr/>
          <p:nvPr/>
        </p:nvSpPr>
        <p:spPr>
          <a:xfrm>
            <a:off x="2148840" y="3291840"/>
            <a:ext cx="3749040" cy="658368"/>
          </a:xfrm>
          <a:prstGeom prst="rect">
            <a:avLst/>
          </a:prstGeom>
          <a:solidFill>
            <a:srgbClr val="F4364C"/>
          </a:solidFill>
          <a:ln/>
        </p:spPr>
      </p:sp>
      <p:sp>
        <p:nvSpPr>
          <p:cNvPr id="28" name="Text 22"/>
          <p:cNvSpPr/>
          <p:nvPr/>
        </p:nvSpPr>
        <p:spPr>
          <a:xfrm>
            <a:off x="2331720" y="3346704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validator  </a:t>
            </a:r>
            <a:pPr indent="0" marL="0">
              <a:buNone/>
            </a:pPr>
            <a:r>
              <a:rPr lang="en-US" sz="1000" dirty="0">
                <a:solidFill>
                  <a:srgbClr val="FF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PS# in the final draft must come from a tool result — retry, then strip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2148840" y="40050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55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final draft gated before tokens flush</a:t>
            </a:r>
            <a:endParaRPr lang="en-US" sz="950" dirty="0"/>
          </a:p>
        </p:txBody>
      </p:sp>
      <p:sp>
        <p:nvSpPr>
          <p:cNvPr id="30" name="Shape 24"/>
          <p:cNvSpPr/>
          <p:nvPr/>
        </p:nvSpPr>
        <p:spPr>
          <a:xfrm>
            <a:off x="411480" y="4370832"/>
            <a:ext cx="8321040" cy="502920"/>
          </a:xfrm>
          <a:prstGeom prst="rect">
            <a:avLst/>
          </a:prstGeom>
          <a:solidFill>
            <a:srgbClr val="F6F6F4"/>
          </a:solidFill>
          <a:ln w="9525">
            <a:solidFill>
              <a:srgbClr val="D7D7D7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640080" y="4416552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UX: tool-status pills stream live; ui_blocks render as rich components mid-stream; provider swaps via 3 env vars (OpenAI-compatible).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121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Hybrid retrieval: facts vs. fuzz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55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split that makes honesty possible — in one database, so semantic hits JOIN price &amp; stock.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931920" cy="2743200"/>
          </a:xfrm>
          <a:prstGeom prst="rect">
            <a:avLst/>
          </a:prstGeom>
          <a:solidFill>
            <a:srgbClr val="337778"/>
          </a:solidFill>
          <a:ln/>
          <a:effectLst>
            <a:outerShdw sx="100000" sy="100000" kx="0" ky="0" algn="bl" rotWithShape="0" blurRad="88900" dist="25400" dir="81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5544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FACTS — deterministic SQL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77240" y="1920240"/>
            <a:ext cx="34290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A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 · stock · compatibility · supersessions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A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check_compat() returns a 4-state verdict with evidence — verified_fit / no_match_found / unknown_model / unknown_part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A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cross-reference pages are paginated → partial data → a miss is “not in our verified list,” never “incompatible”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09160" y="1371600"/>
            <a:ext cx="3931920" cy="2743200"/>
          </a:xfrm>
          <a:prstGeom prst="rect">
            <a:avLst/>
          </a:prstGeom>
          <a:solidFill>
            <a:srgbClr val="F6F6F4"/>
          </a:solidFill>
          <a:ln w="12700">
            <a:solidFill>
              <a:srgbClr val="D7D7D7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83480" y="15544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85F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FUZZ — RAG over pgvector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983480" y="1920240"/>
            <a:ext cx="34290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21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thing that sprays water in the bottom” → Lower Spray Arm (hybrid: tsvector + vectors, RRF-merged)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21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symptoms → repair guides with causes kept in PartSelect's likelihood order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21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customer Q&amp;A + repair stories embedded — matches how people actually talk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4315968"/>
            <a:ext cx="8183880" cy="548640"/>
          </a:xfrm>
          <a:prstGeom prst="rect">
            <a:avLst/>
          </a:prstGeom>
          <a:solidFill>
            <a:srgbClr val="121212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4352544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dangerous to hallucinate lives in SQL. Anything that benefits from meaning lives in vectors. </a:t>
            </a:r>
            <a:pPr indent="0" marL="0">
              <a:buNone/>
            </a:pPr>
            <a:r>
              <a:rPr lang="en-US" sz="1200" dirty="0">
                <a:solidFill>
                  <a:srgbClr val="F3C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engine, one docker compose up.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121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 data, shipped reproducibly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55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is only as honest as its data — so data came before any LLM work.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444752"/>
            <a:ext cx="365760" cy="365760"/>
          </a:xfrm>
          <a:prstGeom prst="ellipse">
            <a:avLst/>
          </a:prstGeom>
          <a:solidFill>
            <a:srgbClr val="33777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264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" y="1371600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1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Polite crawler  </a:t>
            </a:r>
            <a:pPr indent="0" marL="0">
              <a:buNone/>
            </a:pPr>
            <a:r>
              <a:rPr lang="en-US" sz="1100" dirty="0">
                <a:solidFill>
                  <a:srgbClr val="555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on-disk cache by URL hash · 2.5s delay · 600-page cap · re-runs = zero network (unit-tested)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365760" cy="365760"/>
          </a:xfrm>
          <a:prstGeom prst="ellipse">
            <a:avLst/>
          </a:prstGeom>
          <a:solidFill>
            <a:srgbClr val="337778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1762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2121408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1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the site's hidden data model  </a:t>
            </a:r>
            <a:pPr indent="0" marL="0">
              <a:buNone/>
            </a:pPr>
            <a:r>
              <a:rPr lang="en-US" sz="1100" dirty="0">
                <a:solidFill>
                  <a:srgbClr val="555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schema.org microdata · cross-reference tables · ranked repair causes · Q&amp;A model numbers (provenance-tagged)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944368"/>
            <a:ext cx="365760" cy="365760"/>
          </a:xfrm>
          <a:prstGeom prst="ellipse">
            <a:avLst/>
          </a:prstGeom>
          <a:solidFill>
            <a:srgbClr val="337778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926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97280" y="2871216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1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+ embed  </a:t>
            </a:r>
            <a:pPr indent="0" marL="0">
              <a:buNone/>
            </a:pPr>
            <a:r>
              <a:rPr lang="en-US" sz="1100" dirty="0">
                <a:solidFill>
                  <a:srgbClr val="555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→ Postgres → pgvector embeddings · tsvector keyword index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694176"/>
            <a:ext cx="365760" cy="365760"/>
          </a:xfrm>
          <a:prstGeom prst="ellipse">
            <a:avLst/>
          </a:prstGeom>
          <a:solidFill>
            <a:srgbClr val="337778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6758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97280" y="3621024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1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Committed seed  </a:t>
            </a:r>
            <a:pPr indent="0" marL="0">
              <a:buNone/>
            </a:pPr>
            <a:r>
              <a:rPr lang="en-US" sz="1100" dirty="0">
                <a:solidFill>
                  <a:srgbClr val="555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 + seed.sql.gz in the repo → fresh clone runs with no scraping and no API keys; first boot self-heals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63640" y="1371600"/>
            <a:ext cx="2423160" cy="3017520"/>
          </a:xfrm>
          <a:prstGeom prst="rect">
            <a:avLst/>
          </a:prstGeom>
          <a:solidFill>
            <a:srgbClr val="F6F6F4"/>
          </a:solidFill>
          <a:ln w="12700">
            <a:solidFill>
              <a:srgbClr val="D7D7D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15361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5F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 the seed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92240" y="18745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3777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34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7269480" y="189280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parts (all spec-critical records)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92240" y="249631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3777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1,130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7269480" y="25146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compatibility rows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92240" y="3118104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3777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21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7269480" y="3136392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 guides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492240" y="3739896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3777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358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7269480" y="3758184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docs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48640" y="443484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5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scrape.py scales the same pipeline to 150+ parts — architecture over volume.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33777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Accuracy is a feature — so it's measured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E2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multi-turn cases replayed through the live SSE API — tool selection, answer content, scope, and a mechanical hallucination check.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1920240" cy="1371600"/>
          </a:xfrm>
          <a:prstGeom prst="rect">
            <a:avLst/>
          </a:prstGeom>
          <a:solidFill>
            <a:srgbClr val="285F6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6002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40/40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94360" y="22860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E2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pass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606040" y="1463040"/>
            <a:ext cx="1920240" cy="1371600"/>
          </a:xfrm>
          <a:prstGeom prst="rect">
            <a:avLst/>
          </a:prstGeom>
          <a:solidFill>
            <a:srgbClr val="285F60"/>
          </a:solidFill>
          <a:ln/>
        </p:spPr>
      </p:sp>
      <p:sp>
        <p:nvSpPr>
          <p:cNvPr id="8" name="Text 6"/>
          <p:cNvSpPr/>
          <p:nvPr/>
        </p:nvSpPr>
        <p:spPr>
          <a:xfrm>
            <a:off x="2606040" y="16002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3C0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2697480" y="22860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E2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hallucinated part numbers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1463040"/>
            <a:ext cx="1920240" cy="1371600"/>
          </a:xfrm>
          <a:prstGeom prst="rect">
            <a:avLst/>
          </a:prstGeom>
          <a:solidFill>
            <a:srgbClr val="285F60"/>
          </a:solidFill>
          <a:ln/>
        </p:spPr>
      </p:sp>
      <p:sp>
        <p:nvSpPr>
          <p:cNvPr id="11" name="Text 9"/>
          <p:cNvSpPr/>
          <p:nvPr/>
        </p:nvSpPr>
        <p:spPr>
          <a:xfrm>
            <a:off x="4709160" y="16002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800600" y="22860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E2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adherence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12280" y="1463040"/>
            <a:ext cx="1920240" cy="1371600"/>
          </a:xfrm>
          <a:prstGeom prst="rect">
            <a:avLst/>
          </a:prstGeom>
          <a:solidFill>
            <a:srgbClr val="285F60"/>
          </a:solidFill>
          <a:ln/>
        </p:spPr>
      </p:sp>
      <p:sp>
        <p:nvSpPr>
          <p:cNvPr id="14" name="Text 12"/>
          <p:cNvSpPr/>
          <p:nvPr/>
        </p:nvSpPr>
        <p:spPr>
          <a:xfrm>
            <a:off x="6812280" y="16002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31 ms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903720" y="22860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E2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p50 latency (mock mode)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3154680"/>
            <a:ext cx="8138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Suites: user-job canonical 3/3 · compatibility 8/8 · fuzzy search 6/6 · diagnosis 6/6 · scope 8/8 · injection 4/4 · grounding 5/5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CFE2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Favorite case — “Just guess whether it fits, yes or no?” → the agent refuses to guess and gives the verified-list answer.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CFE2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eval earned its keep: it caught two real routing bugs before any human tester would have.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4343400"/>
            <a:ext cx="8138160" cy="502920"/>
          </a:xfrm>
          <a:prstGeom prst="rect">
            <a:avLst/>
          </a:prstGeom>
          <a:solidFill>
            <a:srgbClr val="F3C04C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379976"/>
            <a:ext cx="76809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1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Evals measure whether the agent is right. Tests measure whether the code is correct. This repo ships both.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121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UX: the fix-it journey is the product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55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stressed person with a broken appliance needs one continuous path — the conversation is the UI.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11480" y="1463040"/>
            <a:ext cx="1572768" cy="1783080"/>
          </a:xfrm>
          <a:prstGeom prst="rect">
            <a:avLst/>
          </a:prstGeom>
          <a:solidFill>
            <a:srgbClr val="F6F6F4"/>
          </a:solidFill>
          <a:ln w="12700">
            <a:solidFill>
              <a:srgbClr val="D7D7D7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9264" y="1627632"/>
            <a:ext cx="457200" cy="457200"/>
          </a:xfrm>
          <a:prstGeom prst="ellipse">
            <a:avLst/>
          </a:prstGeom>
          <a:solidFill>
            <a:srgbClr val="337778"/>
          </a:solidFill>
          <a:ln/>
        </p:spPr>
      </p:sp>
      <p:sp>
        <p:nvSpPr>
          <p:cNvPr id="6" name="Text 4"/>
          <p:cNvSpPr/>
          <p:nvPr/>
        </p:nvSpPr>
        <p:spPr>
          <a:xfrm>
            <a:off x="969264" y="16093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11480" y="2176272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121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Symptom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66344" y="246888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diagnosis card,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55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causes expandable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965960" y="2103120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7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167128" y="1463040"/>
            <a:ext cx="1572768" cy="1783080"/>
          </a:xfrm>
          <a:prstGeom prst="rect">
            <a:avLst/>
          </a:prstGeom>
          <a:solidFill>
            <a:srgbClr val="F6F6F4"/>
          </a:solidFill>
          <a:ln w="12700">
            <a:solidFill>
              <a:srgbClr val="D7D7D7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24912" y="1627632"/>
            <a:ext cx="457200" cy="457200"/>
          </a:xfrm>
          <a:prstGeom prst="ellipse">
            <a:avLst/>
          </a:prstGeom>
          <a:solidFill>
            <a:srgbClr val="337778"/>
          </a:solidFill>
          <a:ln/>
        </p:spPr>
      </p:sp>
      <p:sp>
        <p:nvSpPr>
          <p:cNvPr id="12" name="Text 10"/>
          <p:cNvSpPr/>
          <p:nvPr/>
        </p:nvSpPr>
        <p:spPr>
          <a:xfrm>
            <a:off x="2724912" y="16093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167128" y="2176272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121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Right part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221992" y="246888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cards: price,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55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stock, difficulty, rating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721608" y="2103120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7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922776" y="1463040"/>
            <a:ext cx="1572768" cy="1783080"/>
          </a:xfrm>
          <a:prstGeom prst="rect">
            <a:avLst/>
          </a:prstGeom>
          <a:solidFill>
            <a:srgbClr val="337778"/>
          </a:solidFill>
          <a:ln w="12700">
            <a:solidFill>
              <a:srgbClr val="337778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480560" y="1627632"/>
            <a:ext cx="457200" cy="457200"/>
          </a:xfrm>
          <a:prstGeom prst="ellipse">
            <a:avLst/>
          </a:prstGeom>
          <a:solidFill>
            <a:srgbClr val="285F60"/>
          </a:solidFill>
          <a:ln/>
        </p:spPr>
      </p:sp>
      <p:sp>
        <p:nvSpPr>
          <p:cNvPr id="18" name="Text 16"/>
          <p:cNvSpPr/>
          <p:nvPr/>
        </p:nvSpPr>
        <p:spPr>
          <a:xfrm>
            <a:off x="4480560" y="16093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922776" y="2176272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Verify fit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977640" y="246888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E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“Check fits my model” →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CE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/ ⚠ verdict + evidence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477256" y="2103120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7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678424" y="1463040"/>
            <a:ext cx="1572768" cy="1783080"/>
          </a:xfrm>
          <a:prstGeom prst="rect">
            <a:avLst/>
          </a:prstGeom>
          <a:solidFill>
            <a:srgbClr val="F6F6F4"/>
          </a:solidFill>
          <a:ln w="12700">
            <a:solidFill>
              <a:srgbClr val="D7D7D7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4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36208" y="1627632"/>
            <a:ext cx="457200" cy="457200"/>
          </a:xfrm>
          <a:prstGeom prst="ellipse">
            <a:avLst/>
          </a:prstGeom>
          <a:solidFill>
            <a:srgbClr val="337778"/>
          </a:solidFill>
          <a:ln/>
        </p:spPr>
      </p:sp>
      <p:sp>
        <p:nvSpPr>
          <p:cNvPr id="24" name="Text 22"/>
          <p:cNvSpPr/>
          <p:nvPr/>
        </p:nvSpPr>
        <p:spPr>
          <a:xfrm>
            <a:off x="6236208" y="16093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678424" y="2176272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121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Install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733288" y="246888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+ real customer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55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 stories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232904" y="2103120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7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7434072" y="1463040"/>
            <a:ext cx="1572768" cy="1783080"/>
          </a:xfrm>
          <a:prstGeom prst="rect">
            <a:avLst/>
          </a:prstGeom>
          <a:solidFill>
            <a:srgbClr val="F6F6F4"/>
          </a:solidFill>
          <a:ln w="12700">
            <a:solidFill>
              <a:srgbClr val="D7D7D7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4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991856" y="1627632"/>
            <a:ext cx="457200" cy="457200"/>
          </a:xfrm>
          <a:prstGeom prst="ellipse">
            <a:avLst/>
          </a:prstGeom>
          <a:solidFill>
            <a:srgbClr val="337778"/>
          </a:solidFill>
          <a:ln/>
        </p:spPr>
      </p:sp>
      <p:sp>
        <p:nvSpPr>
          <p:cNvPr id="30" name="Text 28"/>
          <p:cNvSpPr/>
          <p:nvPr/>
        </p:nvSpPr>
        <p:spPr>
          <a:xfrm>
            <a:off x="7991856" y="16093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434072" y="2176272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121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Cart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7488936" y="246888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 cart → drawer,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55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order-status timeline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48640" y="3520440"/>
            <a:ext cx="8138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21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Chat-native navigation: card buttons (“Install guide”, “Check fits my model”) send templated messages back into the conversation.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21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everywhere: tokens &lt; 1.5s, tool pills (“Checking compatibility…”) appear and fade live; SSE proxied unbuffered through nginx.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21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PartSelect branding tokens lifted from the real site's CSS (teal #337778, accent yellow) — trustworthy DIY-helper, not a flashy AI app.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121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Decisions &amp; trade-offs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55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ADR-style log lives in playbook/TRADEOFFS.md — these are the five that matter.</a:t>
            </a:r>
            <a:endParaRPr lang="en-US" sz="13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71600"/>
          <a:ext cx="8183880" cy="914400"/>
        </p:xfrm>
        <a:graphic>
          <a:graphicData uri="http://schemas.openxmlformats.org/drawingml/2006/table">
            <a:tbl>
              <a:tblPr/>
              <a:tblGrid>
                <a:gridCol w="2606040"/>
                <a:gridCol w="2788920"/>
                <a:gridCol w="278892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77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77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other side of it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777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212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Postgres for facts AND vectors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554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semantic hits JOIN price/stock in-db; one engine to run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554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vs. SQLite+Chroma simplicity · revisit ~1M embeddings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212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Raw parameterized SQL, no ORM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554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~10 queries — the SQL is the architecture demo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554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gave up migrations tooling · revisit at 3× query count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212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agent + tool registry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554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 latency, simpler failures, easier evals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554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vs. multi-agent · revisit when tools outgrow one prompt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212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Buffer-and-release final prose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554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mechanical zero-hallucination guarantee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554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costs ~100ms perceived · invisible next to tool time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212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Scripted MOCK_LLM mode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554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CI, e2e, demos run keyless and free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554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mock proves the rails; eval proves the model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121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Extensibility, honest limitations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55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 your own weaknesses is a feature: it shows you know what you shipped.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931920" cy="3200400"/>
          </a:xfrm>
          <a:prstGeom prst="rect">
            <a:avLst/>
          </a:prstGeom>
          <a:solidFill>
            <a:srgbClr val="F6F6F4"/>
          </a:solidFill>
          <a:ln w="12700">
            <a:solidFill>
              <a:srgbClr val="D7D7D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554480"/>
            <a:ext cx="402336" cy="402336"/>
          </a:xfrm>
          <a:prstGeom prst="ellipse">
            <a:avLst/>
          </a:prstGeom>
          <a:solidFill>
            <a:srgbClr val="33777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8081" y="1651041"/>
            <a:ext cx="209215" cy="20921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60934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5F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Designed to extend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" y="2103120"/>
            <a:ext cx="34290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21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appliance = seed URLs + one enum value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21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order support = swap the mocked tool body for an OMS/ERP client — the Pydantic schema is already the contract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21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LLM provider = 3 env vars (OpenAI-compatible)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21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path: Redis sessions, per-tool caching, OTel on the existing request-id structured logs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09160" y="1371600"/>
            <a:ext cx="3931920" cy="3200400"/>
          </a:xfrm>
          <a:prstGeom prst="rect">
            <a:avLst/>
          </a:prstGeom>
          <a:solidFill>
            <a:srgbClr val="F6F6F4"/>
          </a:solidFill>
          <a:ln w="12700">
            <a:solidFill>
              <a:srgbClr val="D7D7D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937760" y="1554480"/>
            <a:ext cx="402336" cy="402336"/>
          </a:xfrm>
          <a:prstGeom prst="ellipse">
            <a:avLst/>
          </a:prstGeom>
          <a:solidFill>
            <a:srgbClr val="8A6A0D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4321" y="1651041"/>
            <a:ext cx="209215" cy="20921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0" y="160934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6A0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Known limits (by design)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983480" y="2103120"/>
            <a:ext cx="34290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21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Cross-reference data is partial (source pages paginate) → verdicts say “verified fit” or “not in our verified list” — never a hard no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21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34-part catalog slice; the scraper scales it on demand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21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support is mocked (deterministic, schema-real)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21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sessions; single-locale USD pricing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33777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3291840"/>
            <a:ext cx="3840480" cy="3840480"/>
          </a:xfrm>
          <a:prstGeom prst="ellipse">
            <a:avLst/>
          </a:prstGeom>
          <a:solidFill>
            <a:srgbClr val="285F6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Built AI-natively, verified like software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Claude agent executed the planning docs in /playbook end-to-end — scraper, data layer, agent, evals, UI, CI — with every deviation from the plan logged in DEVIATIONS.md and human review on top. The playbook ships in the repo: the process is part of the engineering.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1874520" cy="1051560"/>
          </a:xfrm>
          <a:prstGeom prst="rect">
            <a:avLst/>
          </a:prstGeom>
          <a:solidFill>
            <a:srgbClr val="285F6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395728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3C0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60+ / 87%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13232" y="28346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FE2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· backend coverage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697480" y="2286000"/>
            <a:ext cx="1874520" cy="1051560"/>
          </a:xfrm>
          <a:prstGeom prst="rect">
            <a:avLst/>
          </a:prstGeom>
          <a:solidFill>
            <a:srgbClr val="285F60"/>
          </a:solidFill>
          <a:ln/>
        </p:spPr>
      </p:sp>
      <p:sp>
        <p:nvSpPr>
          <p:cNvPr id="9" name="Text 7"/>
          <p:cNvSpPr/>
          <p:nvPr/>
        </p:nvSpPr>
        <p:spPr>
          <a:xfrm>
            <a:off x="2697480" y="2395728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3C0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 + 1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2770632" y="28346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FE2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Jest tests + Playwright journey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54880" y="2286000"/>
            <a:ext cx="1874520" cy="1051560"/>
          </a:xfrm>
          <a:prstGeom prst="rect">
            <a:avLst/>
          </a:prstGeom>
          <a:solidFill>
            <a:srgbClr val="285F60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2395728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3C0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828032" y="28346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FE2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lint · tests · e2e · manual eval job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812280" y="2286000"/>
            <a:ext cx="1874520" cy="1051560"/>
          </a:xfrm>
          <a:prstGeom prst="rect">
            <a:avLst/>
          </a:prstGeom>
          <a:solidFill>
            <a:srgbClr val="285F60"/>
          </a:solidFill>
          <a:ln/>
        </p:spPr>
      </p:sp>
      <p:sp>
        <p:nvSpPr>
          <p:cNvPr id="15" name="Text 13"/>
          <p:cNvSpPr/>
          <p:nvPr/>
        </p:nvSpPr>
        <p:spPr>
          <a:xfrm>
            <a:off x="6812280" y="2395728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3C0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cmd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885432" y="28346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FE2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up — seed auto-restores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40080" y="37033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C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MOCK_LLM=1 docker compose up --build</a:t>
            </a:r>
            <a:pPr indent="0" marL="0">
              <a:buNone/>
            </a:pPr>
            <a:r>
              <a:rPr lang="en-US" sz="1200" dirty="0">
                <a:solidFill>
                  <a:srgbClr val="CFE2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then ask it the three user-job queries.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44348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Thanks — Tatsan  ·  github.com/ScooterStuff/case-study  ·  full decision log in /playbook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PartSelect Chat Agent — Instalily Case Study</dc:title>
  <dc:subject>PptxGenJS Presentation</dc:subject>
  <dc:creator>Tatsan</dc:creator>
  <cp:lastModifiedBy>Tatsan</cp:lastModifiedBy>
  <cp:revision>1</cp:revision>
  <dcterms:created xsi:type="dcterms:W3CDTF">2026-06-11T13:06:01Z</dcterms:created>
  <dcterms:modified xsi:type="dcterms:W3CDTF">2026-06-11T13:06:01Z</dcterms:modified>
</cp:coreProperties>
</file>