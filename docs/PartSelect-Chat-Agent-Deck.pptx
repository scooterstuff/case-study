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77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1463040"/>
            <a:ext cx="4206240" cy="4206240"/>
          </a:xfrm>
          <a:prstGeom prst="ellipse">
            <a:avLst/>
          </a:prstGeom>
          <a:solidFill>
            <a:srgbClr val="285F60"/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657600"/>
            <a:ext cx="3108960" cy="3108960"/>
          </a:xfrm>
          <a:prstGeom prst="ellipse">
            <a:avLst/>
          </a:prstGeom>
          <a:solidFill>
            <a:srgbClr val="285F6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Part</a:t>
            </a:r>
            <a:pPr indent="0" marL="0">
              <a:buNone/>
            </a:pPr>
            <a:r>
              <a:rPr lang="en-US" sz="4400" b="1" dirty="0">
                <a:solidFill>
                  <a:srgbClr val="F3C0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Select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Chat Agent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F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symptom to a verified, in-cart part — with measured accuracy.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97180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285F60"/>
          </a:solidFill>
          <a:ln w="9525">
            <a:solidFill>
              <a:srgbClr val="285F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5808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40/40 eval cases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51760" y="2971800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285F60"/>
          </a:solidFill>
          <a:ln w="9525">
            <a:solidFill>
              <a:srgbClr val="285F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295808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hallucinated part #s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74920" y="2971800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285F60"/>
          </a:solidFill>
          <a:ln w="9525">
            <a:solidFill>
              <a:srgbClr val="285F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295808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scraped data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Instalily case study  ·  Tatsan  ·  github.com/ScooterStuff/case-study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the spec like an evaluator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grades this opens the app and types the three example queries first.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212080" cy="566928"/>
          </a:xfrm>
          <a:prstGeom prst="rect">
            <a:avLst/>
          </a:prstGeom>
          <a:solidFill>
            <a:srgbClr val="F6F6F4"/>
          </a:solidFill>
          <a:ln w="9525">
            <a:solidFill>
              <a:srgbClr val="D7D7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53896"/>
            <a:ext cx="310896" cy="310896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435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can I install part number PS11752778?”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part lookup + install help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039112"/>
            <a:ext cx="5212080" cy="566928"/>
          </a:xfrm>
          <a:prstGeom prst="rect">
            <a:avLst/>
          </a:prstGeom>
          <a:solidFill>
            <a:srgbClr val="F6F6F4"/>
          </a:solidFill>
          <a:ln w="9525">
            <a:solidFill>
              <a:srgbClr val="D7D7D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67128"/>
            <a:ext cx="310896" cy="310896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48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15568" y="2084832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this part compatible with my WDT780SAEM1 model?”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 resolution + a compatibility claim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752344"/>
            <a:ext cx="5212080" cy="566928"/>
          </a:xfrm>
          <a:prstGeom prst="rect">
            <a:avLst/>
          </a:prstGeom>
          <a:solidFill>
            <a:srgbClr val="F6F6F4"/>
          </a:solidFill>
          <a:ln w="9525">
            <a:solidFill>
              <a:srgbClr val="D7D7D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880360"/>
            <a:ext cx="310896" cy="310896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2862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5568" y="2798064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ice maker on my Whirlpool fridge is not working…”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symptom → diagnosis → part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89320" y="1325880"/>
            <a:ext cx="2697480" cy="2139696"/>
          </a:xfrm>
          <a:prstGeom prst="rect">
            <a:avLst/>
          </a:prstGeom>
          <a:solidFill>
            <a:srgbClr val="337778"/>
          </a:solidFill>
          <a:ln/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C0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These aren't examples.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17920" y="196596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the acceptance tests — written before any code, automated in the eval harness, seeded as suggestion chips in the UI.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794760"/>
            <a:ext cx="8183880" cy="713232"/>
          </a:xfrm>
          <a:prstGeom prst="rect">
            <a:avLst/>
          </a:prstGeom>
          <a:solidFill>
            <a:srgbClr val="F6F6F4"/>
          </a:solidFill>
          <a:ln w="9525">
            <a:solidFill>
              <a:srgbClr val="D7D7D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 </a:t>
            </a:r>
            <a:pPr indent="0" marL="0">
              <a:buNone/>
            </a:pPr>
            <a:r>
              <a:rPr lang="en-US" sz="12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candidate ships a branded chat + an LLM + a few tools. The differentiator is </a:t>
            </a:r>
            <a:pPr indent="0" marL="0">
              <a:buNone/>
            </a:pPr>
            <a:r>
              <a:rPr lang="en-US" sz="1250" b="1" dirty="0">
                <a:solidFill>
                  <a:srgbClr val="3377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pPr indent="0" marL="0">
              <a:buNone/>
            </a:pPr>
            <a:r>
              <a:rPr lang="en-US" sz="12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measured agent, honest about its data, that a grader can verify in five minutes.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 found a trap in the spec itself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designing anything, I pulled the real pages for the example queries.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291840" cy="196596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rgbClr val="33777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70992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PS11752778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2240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Refrigerator Door Shelf Bin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Whirlpool WPW10321304 · $47.40 · In Stock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349240" y="1371600"/>
            <a:ext cx="3291840" cy="196596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577840" y="1600200"/>
            <a:ext cx="457200" cy="457200"/>
          </a:xfrm>
          <a:prstGeom prst="ellipse">
            <a:avLst/>
          </a:prstGeom>
          <a:solidFill>
            <a:srgbClr val="33777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170992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172200" y="1627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WDT780SAEM1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577840" y="2240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Whirlpool DISHWASHER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 verified parts in the scraped cross-reference)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1874520"/>
            <a:ext cx="685800" cy="6858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950208" y="2606040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43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436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fit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2920" y="3657600"/>
            <a:ext cx="8183880" cy="960120"/>
          </a:xfrm>
          <a:prstGeom prst="rect">
            <a:avLst/>
          </a:prstGeom>
          <a:solidFill>
            <a:srgbClr val="121212"/>
          </a:solidFill>
          <a:ln/>
        </p:spPr>
      </p:sp>
      <p:sp>
        <p:nvSpPr>
          <p:cNvPr id="17" name="Text 12"/>
          <p:cNvSpPr/>
          <p:nvPr/>
        </p:nvSpPr>
        <p:spPr>
          <a:xfrm>
            <a:off x="777240" y="3776472"/>
            <a:ext cx="7635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C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query 2 is a hallucination trap: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fridge bin can't fit a dishwasher — any agent that says “yes, compatible!” is making it up. This one fact dictated the architecture: compatibility is a database JOIN, never an LLM guess.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Architecture: one agent, hard rails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tool-calling LLM — extensibility lives in the tool registry, not in agent count.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1371600" cy="155448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86968" y="1600200"/>
            <a:ext cx="420624" cy="420624"/>
          </a:xfrm>
          <a:prstGeom prst="ellipse">
            <a:avLst/>
          </a:prstGeom>
          <a:solidFill>
            <a:srgbClr val="33777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918" y="1701150"/>
            <a:ext cx="218724" cy="2187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 Guard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239572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fast-path,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tiny classifier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764792" y="199339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77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148840" y="1417320"/>
            <a:ext cx="1600200" cy="1554480"/>
          </a:xfrm>
          <a:prstGeom prst="rect">
            <a:avLst/>
          </a:prstGeom>
          <a:solidFill>
            <a:srgbClr val="337778"/>
          </a:solidFill>
          <a:ln w="12700">
            <a:solidFill>
              <a:srgbClr val="337778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38628" y="1600200"/>
            <a:ext cx="420624" cy="420624"/>
          </a:xfrm>
          <a:prstGeom prst="ellipse">
            <a:avLst/>
          </a:prstGeom>
          <a:solidFill>
            <a:srgbClr val="285F6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578" y="1701150"/>
            <a:ext cx="218724" cy="2187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194560" y="21031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Loop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2194560" y="23957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· 6 tools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C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4 rounds · SSE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3730752" y="199339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77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4114800" y="1417320"/>
            <a:ext cx="1783080" cy="155448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796028" y="1600200"/>
            <a:ext cx="420624" cy="420624"/>
          </a:xfrm>
          <a:prstGeom prst="ellipse">
            <a:avLst/>
          </a:prstGeom>
          <a:solidFill>
            <a:srgbClr val="33777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978" y="1701150"/>
            <a:ext cx="218724" cy="2187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16052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 Registry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4160520" y="2395728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details · compat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· install · orders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5879592" y="1993392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77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6263640" y="1417320"/>
            <a:ext cx="2468880" cy="1554480"/>
          </a:xfrm>
          <a:prstGeom prst="rect">
            <a:avLst/>
          </a:prstGeom>
          <a:solidFill>
            <a:srgbClr val="337778"/>
          </a:solidFill>
          <a:ln w="12700">
            <a:solidFill>
              <a:srgbClr val="337778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287768" y="1600200"/>
            <a:ext cx="420624" cy="420624"/>
          </a:xfrm>
          <a:prstGeom prst="ellipse">
            <a:avLst/>
          </a:prstGeom>
          <a:solidFill>
            <a:srgbClr val="285F6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18" y="1701150"/>
            <a:ext cx="218724" cy="21872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309360" y="2103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Postgres + pgvector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309360" y="23957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via SQL · fuzz via RAG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C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database, one JOIN away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2148840" y="3291840"/>
            <a:ext cx="3749040" cy="658368"/>
          </a:xfrm>
          <a:prstGeom prst="rect">
            <a:avLst/>
          </a:prstGeom>
          <a:solidFill>
            <a:srgbClr val="F4364C"/>
          </a:solidFill>
          <a:ln/>
        </p:spPr>
      </p:sp>
      <p:sp>
        <p:nvSpPr>
          <p:cNvPr id="28" name="Text 22"/>
          <p:cNvSpPr/>
          <p:nvPr/>
        </p:nvSpPr>
        <p:spPr>
          <a:xfrm>
            <a:off x="2331720" y="334670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validator  </a:t>
            </a:r>
            <a:pPr indent="0" marL="0">
              <a:buNone/>
            </a:pPr>
            <a:r>
              <a:rPr lang="en-US" sz="1000" dirty="0">
                <a:solidFill>
                  <a:srgbClr val="F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PS# in the final draft must come from a tool result — retry, then strip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2148840" y="40050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final draft gated before tokens flush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411480" y="4370832"/>
            <a:ext cx="8321040" cy="502920"/>
          </a:xfrm>
          <a:prstGeom prst="rect">
            <a:avLst/>
          </a:prstGeom>
          <a:solidFill>
            <a:srgbClr val="F6F6F4"/>
          </a:solidFill>
          <a:ln w="9525">
            <a:solidFill>
              <a:srgbClr val="D7D7D7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0080" y="441655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UX: tool-status pills stream live; ui_blocks render as rich components mid-stream; provider swaps via 3 env vars (OpenAI-compatible).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 retrieval: facts vs. fuzz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that makes honesty possible — in one database, so semantic hits JOIN price &amp; stock.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43200"/>
          </a:xfrm>
          <a:prstGeom prst="rect">
            <a:avLst/>
          </a:prstGeom>
          <a:solidFill>
            <a:srgbClr val="337778"/>
          </a:solidFill>
          <a:ln/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54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FACTS — deterministic SQL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3429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· stock · compatibility · supersessions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check_compat() returns a 4-state verdict with evidence — verified_fit / no_match_found / unknown_model / unknown_part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pages are paginated → partial data → a miss is “not in our verified list,” never “incompatible”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31920" cy="274320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554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85F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FUZZ — RAG over pgvector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983480" y="1920240"/>
            <a:ext cx="3429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thing that sprays water in the bottom” → Lower Spray Arm (hybrid: tsvector + vectors, RRF-merged)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→ repair guides with causes kept in PartSelect's likelihood order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customer Q&amp;A + repair stories embedded — matches how people actually talk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315968"/>
            <a:ext cx="8183880" cy="548640"/>
          </a:xfrm>
          <a:prstGeom prst="rect">
            <a:avLst/>
          </a:prstGeom>
          <a:solidFill>
            <a:srgbClr val="121212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4352544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dangerous to hallucinate lives in SQL. Anything that benefits from meaning lives in vectors. </a:t>
            </a:r>
            <a:pPr indent="0" marL="0">
              <a:buNone/>
            </a:pPr>
            <a:r>
              <a:rPr lang="en-US" sz="1200" dirty="0">
                <a:solidFill>
                  <a:srgbClr val="F3C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one docker compose up.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data, shipped reproducibly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only as honest as its data — so data came before any LLM work.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365760" cy="365760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26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crawler  </a:t>
            </a:r>
            <a:pPr indent="0" marL="0">
              <a:buNone/>
            </a:pPr>
            <a:r>
              <a:rPr lang="en-US" sz="11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on-disk cache by URL hash · 2.5s delay · 600-page cap · re-runs = zero network (unit-tested)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365760" cy="365760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2121408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the site's hidden data model  </a:t>
            </a:r>
            <a:pPr indent="0" marL="0">
              <a:buNone/>
            </a:pPr>
            <a:r>
              <a:rPr lang="en-US" sz="11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schema.org microdata · cross-reference tables · ranked repair causes · Q&amp;A model numbers (provenance-tagged)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44368"/>
            <a:ext cx="365760" cy="365760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2871216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embed  </a:t>
            </a:r>
            <a:pPr indent="0" marL="0">
              <a:buNone/>
            </a:pPr>
            <a:r>
              <a:rPr lang="en-US" sz="11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→ Postgres → pgvector embeddings · tsvector keyword index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694176"/>
            <a:ext cx="365760" cy="365760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97280" y="3621024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seed  </a:t>
            </a:r>
            <a:pPr indent="0" marL="0">
              <a:buNone/>
            </a:pPr>
            <a:r>
              <a:rPr lang="en-US" sz="11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+ seed.sql.gz in the repo → fresh clone runs with no scraping and no API keys; first boot self-heals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1371600"/>
            <a:ext cx="2423160" cy="301752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536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5F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the seed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18745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77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269480" y="189280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parts (all spec-critical records)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92240" y="24963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77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1,130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726948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compatibility rows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92240" y="31181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77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269480" y="313639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guides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92240" y="37398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77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358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7269480" y="375818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docs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4348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scrape.py scales the same pipeline to 150+ parts — architecture over volume.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377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differentiator: a measured agent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multi-turn cases replayed through the live SSE API — tool selection, answer content, scope, and a mechanical hallucination check.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920240" cy="1371600"/>
          </a:xfrm>
          <a:prstGeom prst="rect">
            <a:avLst/>
          </a:prstGeom>
          <a:solidFill>
            <a:srgbClr val="285F6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40/40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94360" y="2286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6040" y="1463040"/>
            <a:ext cx="1920240" cy="1371600"/>
          </a:xfrm>
          <a:prstGeom prst="rect">
            <a:avLst/>
          </a:prstGeom>
          <a:solidFill>
            <a:srgbClr val="285F60"/>
          </a:solidFill>
          <a:ln/>
        </p:spPr>
      </p:sp>
      <p:sp>
        <p:nvSpPr>
          <p:cNvPr id="8" name="Text 6"/>
          <p:cNvSpPr/>
          <p:nvPr/>
        </p:nvSpPr>
        <p:spPr>
          <a:xfrm>
            <a:off x="260604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3C0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697480" y="2286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part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463040"/>
            <a:ext cx="1920240" cy="1371600"/>
          </a:xfrm>
          <a:prstGeom prst="rect">
            <a:avLst/>
          </a:prstGeom>
          <a:solidFill>
            <a:srgbClr val="285F60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2286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adherence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12280" y="1463040"/>
            <a:ext cx="1920240" cy="1371600"/>
          </a:xfrm>
          <a:prstGeom prst="rect">
            <a:avLst/>
          </a:prstGeom>
          <a:solidFill>
            <a:srgbClr val="285F60"/>
          </a:solidFill>
          <a:ln/>
        </p:spPr>
      </p:sp>
      <p:sp>
        <p:nvSpPr>
          <p:cNvPr id="14" name="Text 12"/>
          <p:cNvSpPr/>
          <p:nvPr/>
        </p:nvSpPr>
        <p:spPr>
          <a:xfrm>
            <a:off x="6812280" y="1600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31 ms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903720" y="2286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p50 latency (mock mode)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1546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Suites: spec-canonical 3/3 · compatibility 8/8 · fuzzy search 6/6 · diagnosis 6/6 · scope 8/8 · injection 4/4 · grounding 5/5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 case — “Just guess whether it fits, yes or no?” → the agent refuses to guess and gives the verified-list answer.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earned its keep: it caught two real routing bugs before any human tester would have.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343400"/>
            <a:ext cx="8138160" cy="502920"/>
          </a:xfrm>
          <a:prstGeom prst="rect">
            <a:avLst/>
          </a:prstGeom>
          <a:solidFill>
            <a:srgbClr val="F3C04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379976"/>
            <a:ext cx="7680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measure whether the agent is right. Tests measure whether the code is correct. This repo ships both.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UX: the fix-it journey is the product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stressed person with a broken appliance needs one continuous path — the conversation is the UI.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11480" y="1463040"/>
            <a:ext cx="1572768" cy="178308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1627632"/>
            <a:ext cx="457200" cy="457200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6" name="Text 4"/>
          <p:cNvSpPr/>
          <p:nvPr/>
        </p:nvSpPr>
        <p:spPr>
          <a:xfrm>
            <a:off x="969264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21762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Symptom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66344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diagnosis card,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expandable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965960" y="21031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77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167128" y="1463040"/>
            <a:ext cx="1572768" cy="178308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24912" y="1627632"/>
            <a:ext cx="457200" cy="457200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12" name="Text 10"/>
          <p:cNvSpPr/>
          <p:nvPr/>
        </p:nvSpPr>
        <p:spPr>
          <a:xfrm>
            <a:off x="2724912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167128" y="21762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Right part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221992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cards: price,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stock, difficulty, rating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721608" y="21031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77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922776" y="1463040"/>
            <a:ext cx="1572768" cy="1783080"/>
          </a:xfrm>
          <a:prstGeom prst="rect">
            <a:avLst/>
          </a:prstGeom>
          <a:solidFill>
            <a:srgbClr val="337778"/>
          </a:solidFill>
          <a:ln w="12700">
            <a:solidFill>
              <a:srgbClr val="337778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80560" y="1627632"/>
            <a:ext cx="457200" cy="457200"/>
          </a:xfrm>
          <a:prstGeom prst="ellipse">
            <a:avLst/>
          </a:prstGeom>
          <a:solidFill>
            <a:srgbClr val="285F60"/>
          </a:solidFill>
          <a:ln/>
        </p:spPr>
      </p:sp>
      <p:sp>
        <p:nvSpPr>
          <p:cNvPr id="18" name="Text 16"/>
          <p:cNvSpPr/>
          <p:nvPr/>
        </p:nvSpPr>
        <p:spPr>
          <a:xfrm>
            <a:off x="4480560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22776" y="21762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 fit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977640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“Check fits my model” →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C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 ⚠ verdict + evidence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77256" y="21031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77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78424" y="1463040"/>
            <a:ext cx="1572768" cy="178308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36208" y="1627632"/>
            <a:ext cx="457200" cy="457200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24" name="Text 22"/>
          <p:cNvSpPr/>
          <p:nvPr/>
        </p:nvSpPr>
        <p:spPr>
          <a:xfrm>
            <a:off x="6236208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678424" y="21762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Install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733288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+ real customer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 stories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232904" y="21031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77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434072" y="1463040"/>
            <a:ext cx="1572768" cy="178308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88900" dist="25400" dir="8100000">
              <a:srgbClr val="000000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91856" y="1627632"/>
            <a:ext cx="457200" cy="457200"/>
          </a:xfrm>
          <a:prstGeom prst="ellipse">
            <a:avLst/>
          </a:prstGeom>
          <a:solidFill>
            <a:srgbClr val="337778"/>
          </a:solidFill>
          <a:ln/>
        </p:spPr>
      </p:sp>
      <p:sp>
        <p:nvSpPr>
          <p:cNvPr id="30" name="Text 28"/>
          <p:cNvSpPr/>
          <p:nvPr/>
        </p:nvSpPr>
        <p:spPr>
          <a:xfrm>
            <a:off x="7991856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434072" y="217627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488936" y="2468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cart → drawer,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order-status timeline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352044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Chat-native navigation: card buttons (“Install guide”, “Check fits my model”) send templated messages back into the conversation.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everywhere: tokens &lt; 1.5s, tool pills (“Checking compatibility…”) appear and fade live; SSE proxied unbuffered through nginx.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PartSelect branding tokens lifted from the real site's CSS (teal #337778, accent yellow) — trustworthy DIY-helper, not a flashy AI app.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&amp; trade-offs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ADR-style log lives in playbook/TRADEOFFS.md — these are the five that matter.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8388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788920"/>
                <a:gridCol w="27889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77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77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other side of 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77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12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Postgres for facts AND vectors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hits JOIN price/stock in-db; one engine to 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vs. SQLite+Chroma simplicity · revisit ~1M embeddings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12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parameterized SQL, no ORM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 queries — the SQL is the architecture demo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gave up migrations tooling · revisit at 3× query 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12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agent + tool registry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latency, simpler failures, easier evals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vs. multi-agent · revisit when tools outgrow one prompt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12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Buffer-and-release final prose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mechanical zero-hallucination guarantee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costs ~100ms perceived · invisible next to tool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12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Scripted MOCK_LLM mode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CI, e2e, demos run keyless and free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5545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mock proves the rails; eval proves the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7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2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Extensibility, honest limitations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046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54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your own weaknesses is a feature: it shows you know what you shipped.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320040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402336" cy="402336"/>
          </a:xfrm>
          <a:prstGeom prst="ellipse">
            <a:avLst/>
          </a:prstGeom>
          <a:solidFill>
            <a:srgbClr val="33777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081" y="1651041"/>
            <a:ext cx="209215" cy="2092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09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5F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Designed to extend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103120"/>
            <a:ext cx="3429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appliance = seed URLs + one enum value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order support = swap the mocked tool body for an OMS/ERP client — the Pydantic schema is already the contract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LLM provider = 3 env vars (OpenAI-compatible)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path: Redis sessions, per-tool caching, OTel on the existing request-id structured logs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09160" y="1371600"/>
            <a:ext cx="3931920" cy="3200400"/>
          </a:xfrm>
          <a:prstGeom prst="rect">
            <a:avLst/>
          </a:prstGeom>
          <a:solidFill>
            <a:srgbClr val="F6F6F4"/>
          </a:solidFill>
          <a:ln w="12700">
            <a:solidFill>
              <a:srgbClr val="D7D7D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554480"/>
            <a:ext cx="402336" cy="402336"/>
          </a:xfrm>
          <a:prstGeom prst="ellipse">
            <a:avLst/>
          </a:prstGeom>
          <a:solidFill>
            <a:srgbClr val="8A6A0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321" y="1651041"/>
            <a:ext cx="209215" cy="2092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0" y="16093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6A0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Known limits (by design)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983480" y="2057400"/>
            <a:ext cx="3429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data is partial (source pages paginate) → verdicts say “verified fit” or “not in our verified list” — never a hard no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34-part catalog slice; the scraper scales it on demand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support is mocked (deterministic, schema-real)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21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sessions; single-locale USD pricing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377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3291840"/>
            <a:ext cx="3840480" cy="3840480"/>
          </a:xfrm>
          <a:prstGeom prst="ellipse">
            <a:avLst/>
          </a:prstGeom>
          <a:solidFill>
            <a:srgbClr val="285F6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AI-natively, verified like software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Claude agent executed the planning docs in /playbook end-to-end — scraper, data layer, agent, evals, UI, CI — with every deviation from the plan logged in DEVIATIONS.md and human review on top. The playbook ships in the repo: the process is part of the engineering.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1874520" cy="1051560"/>
          </a:xfrm>
          <a:prstGeom prst="rect">
            <a:avLst/>
          </a:prstGeom>
          <a:solidFill>
            <a:srgbClr val="285F6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9572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3C0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60+ / 87%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· backend coverage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97480" y="2286000"/>
            <a:ext cx="1874520" cy="1051560"/>
          </a:xfrm>
          <a:prstGeom prst="rect">
            <a:avLst/>
          </a:prstGeom>
          <a:solidFill>
            <a:srgbClr val="285F60"/>
          </a:solidFill>
          <a:ln/>
        </p:spPr>
      </p:sp>
      <p:sp>
        <p:nvSpPr>
          <p:cNvPr id="9" name="Text 7"/>
          <p:cNvSpPr/>
          <p:nvPr/>
        </p:nvSpPr>
        <p:spPr>
          <a:xfrm>
            <a:off x="2697480" y="239572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3C0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+ 1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770632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tests + Playwright journey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2286000"/>
            <a:ext cx="1874520" cy="1051560"/>
          </a:xfrm>
          <a:prstGeom prst="rect">
            <a:avLst/>
          </a:prstGeom>
          <a:solidFill>
            <a:srgbClr val="285F6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39572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3C0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28032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tests · e2e · manual eval job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1874520" cy="1051560"/>
          </a:xfrm>
          <a:prstGeom prst="rect">
            <a:avLst/>
          </a:prstGeom>
          <a:solidFill>
            <a:srgbClr val="285F60"/>
          </a:solidFill>
          <a:ln/>
        </p:spPr>
      </p:sp>
      <p:sp>
        <p:nvSpPr>
          <p:cNvPr id="15" name="Text 13"/>
          <p:cNvSpPr/>
          <p:nvPr/>
        </p:nvSpPr>
        <p:spPr>
          <a:xfrm>
            <a:off x="6812280" y="239572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3C04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cmd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885432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seed auto-restores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" y="3703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C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MOCK_LLM=1 docker compose up --build</a:t>
            </a:r>
            <a:pPr indent="0" marL="0">
              <a:buNone/>
            </a:pPr>
            <a:r>
              <a:rPr lang="en-US" sz="1200" dirty="0">
                <a:solidFill>
                  <a:srgbClr val="CFE2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then ask it the three spec queries.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 — Tatsan  ·  github.com/ScooterStuff/case-study  ·  full decision log in /playbook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PartSelect Chat Agent — Instalily Case Study</dc:title>
  <dc:subject>PptxGenJS Presentation</dc:subject>
  <dc:creator>Tatsan</dc:creator>
  <cp:lastModifiedBy>Tatsan</cp:lastModifiedBy>
  <cp:revision>1</cp:revision>
  <dcterms:created xsi:type="dcterms:W3CDTF">2026-06-11T03:29:14Z</dcterms:created>
  <dcterms:modified xsi:type="dcterms:W3CDTF">2026-06-11T03:29:14Z</dcterms:modified>
</cp:coreProperties>
</file>